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336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 txBox="1">
            <a:spLocks/>
          </p:cNvSpPr>
          <p:nvPr/>
        </p:nvSpPr>
        <p:spPr>
          <a:xfrm>
            <a:off x="248088" y="229012"/>
            <a:ext cx="9144000" cy="64319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Plan Today Prosper Tomorrow</a:t>
            </a:r>
            <a:endParaRPr lang="en-IN" sz="4500" b="1" dirty="0">
              <a:solidFill>
                <a:schemeClr val="accent4">
                  <a:lumMod val="40000"/>
                  <a:lumOff val="60000"/>
                </a:schemeClr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341" y="1042737"/>
            <a:ext cx="1779753" cy="18658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7" name="TextBox 36"/>
          <p:cNvSpPr txBox="1"/>
          <p:nvPr/>
        </p:nvSpPr>
        <p:spPr>
          <a:xfrm>
            <a:off x="2477333" y="2908607"/>
            <a:ext cx="4217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>
                    <a:lumMod val="95000"/>
                  </a:schemeClr>
                </a:solidFill>
              </a:rPr>
              <a:t>                        </a:t>
            </a:r>
            <a:r>
              <a:rPr lang="en-US" sz="2000" b="1" dirty="0" err="1" smtClean="0">
                <a:solidFill>
                  <a:schemeClr val="bg1">
                    <a:lumMod val="95000"/>
                  </a:schemeClr>
                </a:solidFill>
              </a:rPr>
              <a:t>Kunal</a:t>
            </a:r>
            <a:r>
              <a:rPr lang="en-US" sz="2000" b="1" dirty="0" smtClean="0">
                <a:solidFill>
                  <a:schemeClr val="bg1">
                    <a:lumMod val="95000"/>
                  </a:schemeClr>
                </a:solidFill>
              </a:rPr>
              <a:t> Gupta</a:t>
            </a:r>
          </a:p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AMFI Registered Mutual Fund Distributer</a:t>
            </a:r>
          </a:p>
          <a:p>
            <a:r>
              <a:rPr lang="en-IN" dirty="0" smtClean="0">
                <a:solidFill>
                  <a:schemeClr val="bg1">
                    <a:lumMod val="95000"/>
                  </a:schemeClr>
                </a:solidFill>
              </a:rPr>
              <a:t>  ARN – 353508     |   Phone: 8434463048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58100" y="3776087"/>
            <a:ext cx="3056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Kunalkr.gupta5@gmail.com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95230" y="4360862"/>
            <a:ext cx="7554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MBA-Finance       |        NISM-VA         |          NISM XV        |         BBA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445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FFFFF"/>
                </a:solidFill>
              </a:rPr>
              <a:t>WHAT IS A MUTUAL FUND?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A7A"/>
                </a:solidFill>
              </a:rPr>
              <a:t>Slide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Pool. Invest. Grow.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4A9B6F">
              <a:alpha val="15000"/>
            </a:srgbClr>
          </a:solidFill>
          <a:ln w="127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72768"/>
            <a:ext cx="7863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C2B1C"/>
                </a:solidFill>
              </a:rPr>
              <a:t>A Mutual Fund pools money from thousands of investors and invests it in stocks, bonds, or other assets — managed by a professional Fund Manager. Think of it as a "dabbawala system" — everyone contributes, a professional handles delivery, and everyone benefits proportionally.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2953512"/>
            <a:ext cx="411480" cy="54864"/>
          </a:xfrm>
          <a:prstGeom prst="rect">
            <a:avLst/>
          </a:prstGeom>
          <a:solidFill>
            <a:srgbClr val="4A9B6F"/>
          </a:solidFill>
          <a:ln w="12700">
            <a:solidFill>
              <a:srgbClr val="4A9B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97480"/>
            <a:ext cx="1874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2761488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614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</a:rPr>
              <a:t>Investors Contribute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3A"/>
                </a:solidFill>
              </a:rPr>
              <a:t>You invest ₹500 or more via SIP or lumpsum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24528" y="2953512"/>
            <a:ext cx="411480" cy="54864"/>
          </a:xfrm>
          <a:prstGeom prst="rect">
            <a:avLst/>
          </a:prstGeom>
          <a:solidFill>
            <a:srgbClr val="4A9B6F"/>
          </a:solidFill>
          <a:ln w="12700">
            <a:solidFill>
              <a:srgbClr val="4A9B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8608" y="2697480"/>
            <a:ext cx="1874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2761488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27614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3520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</a:rPr>
              <a:t>Fund Manager Invests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24328" y="39319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3A"/>
                </a:solidFill>
              </a:rPr>
              <a:t>Expert allocates across 30–50 securities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45936" y="2953512"/>
            <a:ext cx="411480" cy="54864"/>
          </a:xfrm>
          <a:prstGeom prst="rect">
            <a:avLst/>
          </a:prstGeom>
          <a:solidFill>
            <a:srgbClr val="4A9B6F"/>
          </a:solidFill>
          <a:ln w="12700">
            <a:solidFill>
              <a:srgbClr val="4A9B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2697480"/>
            <a:ext cx="1874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94376" y="2761488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4376" y="27614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45736" y="3520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</a:rPr>
              <a:t>Portfolio Grows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45736" y="39319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3A"/>
                </a:solidFill>
              </a:rPr>
              <a:t>Returns generated through dividends &amp; capital gains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21424" y="2697480"/>
            <a:ext cx="1874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15784" y="2761488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27614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67144" y="35204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</a:rPr>
              <a:t>You Earn Returns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67144" y="39319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3A"/>
                </a:solidFill>
              </a:rPr>
              <a:t>NAV rises; you redeem anytime (open-ended funds)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6908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1C"/>
                </a:solidFill>
              </a:rPr>
              <a:t>🇮🇳  Indian Example: SBI Blue Chip Fund pools ₹40,000+ Crore from lakhs of investors, managed by experienced fund managers — giving individual investors access to top 100 companies.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B6B"/>
                </a:solidFill>
              </a:rPr>
              <a:t>Mutual Fund investments are subject to market risks. Read all scheme related documents carefully before investing.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58" y="342900"/>
            <a:ext cx="8165826" cy="4439341"/>
          </a:xfrm>
          <a:prstGeom prst="rect">
            <a:avLst/>
          </a:prstGeom>
        </p:spPr>
      </p:pic>
      <p:sp>
        <p:nvSpPr>
          <p:cNvPr id="22" name="Shape 0"/>
          <p:cNvSpPr/>
          <p:nvPr/>
        </p:nvSpPr>
        <p:spPr>
          <a:xfrm>
            <a:off x="0" y="-4445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" name="TextBox 1"/>
          <p:cNvSpPr txBox="1"/>
          <p:nvPr/>
        </p:nvSpPr>
        <p:spPr>
          <a:xfrm>
            <a:off x="449003" y="158234"/>
            <a:ext cx="325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200" dirty="0" smtClean="0">
                <a:solidFill>
                  <a:srgbClr val="FFFFFF"/>
                </a:solidFill>
              </a:rPr>
              <a:t>TYPES OF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kern="0" spc="200" dirty="0" smtClean="0">
                <a:solidFill>
                  <a:srgbClr val="FFFFFF"/>
                </a:solidFill>
              </a:rPr>
              <a:t>MUTUAL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kern="0" spc="200" dirty="0" smtClean="0">
                <a:solidFill>
                  <a:srgbClr val="FFFFFF"/>
                </a:solidFill>
              </a:rPr>
              <a:t>FUND</a:t>
            </a:r>
            <a:endParaRPr lang="en-IN" b="1" kern="0" spc="200" dirty="0">
              <a:solidFill>
                <a:srgbClr val="FFFFFF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77240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A7A"/>
                </a:solidFill>
              </a:rPr>
              <a:t>Slide </a:t>
            </a:r>
            <a:r>
              <a:rPr lang="en-US" sz="900" dirty="0" smtClean="0">
                <a:solidFill>
                  <a:srgbClr val="7AAA7A"/>
                </a:solidFill>
              </a:rPr>
              <a:t>03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8997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 smtClean="0">
                <a:solidFill>
                  <a:srgbClr val="FFFFFF"/>
                </a:solidFill>
              </a:rPr>
              <a:t>ABOUT </a:t>
            </a:r>
            <a:r>
              <a:rPr lang="en-US" b="1" kern="0" spc="200" dirty="0">
                <a:solidFill>
                  <a:srgbClr val="FFFFFF"/>
                </a:solidFill>
              </a:rPr>
              <a:t>MUTUAL FUNDS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A7A"/>
                </a:solidFill>
              </a:rPr>
              <a:t>Slide </a:t>
            </a:r>
            <a:r>
              <a:rPr lang="en-US" sz="900" dirty="0" smtClean="0">
                <a:solidFill>
                  <a:srgbClr val="7AAA7A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Fund for Your Goal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160020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Equity Funds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426464"/>
            <a:ext cx="713232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426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Risk: 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11480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C2B1C"/>
                </a:solidFill>
              </a:rPr>
              <a:t>Invest primarily in stocks. Best for wealth creation over long term.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1762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</a:rPr>
              <a:t>Ret: 12–15% p.a.*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B6B"/>
                </a:solidFill>
              </a:rPr>
              <a:t>Ideal: Long-term wealth creation (5+ years)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A4A3A"/>
                </a:solidFill>
              </a:rPr>
              <a:t>Eg: Mirae Asset Emerging Bluechip, Axis Flexi Cap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154680" y="1371600"/>
            <a:ext cx="2697480" cy="16002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371600"/>
            <a:ext cx="269748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Debt Funds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426464"/>
            <a:ext cx="713232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426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Risk: Low-Med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46120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C2B1C"/>
                </a:solidFill>
              </a:rPr>
              <a:t>Invest in bonds &amp; govt. securities. Stable returns, lower risk.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1762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</a:rPr>
              <a:t>Ret: 6–8% p.a.*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120" y="2377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B6B"/>
                </a:solidFill>
              </a:rPr>
              <a:t>Ideal: Short to medium term (1–3 years)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46120" y="2651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A4A3A"/>
                </a:solidFill>
              </a:rPr>
              <a:t>Eg: HDFC Short Term Debt Fund, ICICI Gilt Fund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89320" y="1371600"/>
            <a:ext cx="2697480" cy="1600200"/>
          </a:xfrm>
          <a:prstGeom prst="rect">
            <a:avLst/>
          </a:prstGeom>
          <a:solidFill>
            <a:srgbClr val="FEF9E7"/>
          </a:solidFill>
          <a:ln w="12700">
            <a:solidFill>
              <a:srgbClr val="7D66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1371600"/>
            <a:ext cx="2697480" cy="34747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Hybrid Funds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426464"/>
            <a:ext cx="713232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1426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Risk: Medium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080760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C2B1C"/>
                </a:solidFill>
              </a:rPr>
              <a:t>Mix of equity &amp; debt. Good for moderate risk investors.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1762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D6608"/>
                </a:solidFill>
              </a:rPr>
              <a:t>Ret: 9–11% p.a.*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2377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B6B"/>
                </a:solidFill>
              </a:rPr>
              <a:t>Ideal: Balanced approach (3–5 years)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80760" y="2651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A4A3A"/>
                </a:solidFill>
              </a:rPr>
              <a:t>Eg: ICICI Pru Balanced Advantage, Kotak Equity Hybrid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0040" y="3108960"/>
            <a:ext cx="2697480" cy="1600200"/>
          </a:xfrm>
          <a:prstGeom prst="rect">
            <a:avLst/>
          </a:prstGeom>
          <a:solidFill>
            <a:srgbClr val="F5EEF8"/>
          </a:solidFill>
          <a:ln w="12700">
            <a:solidFill>
              <a:srgbClr val="4A2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108960"/>
            <a:ext cx="2697480" cy="34747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Index Funds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40280" y="3163824"/>
            <a:ext cx="713232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3163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Risk: Market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1480" y="35112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C2B1C"/>
                </a:solidFill>
              </a:rPr>
              <a:t>Mirrors indices like Nifty 50. Low cost, transparent strategy.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39136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</a:rPr>
              <a:t>Ret: Tracks Index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" y="41148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B6B"/>
                </a:solidFill>
              </a:rPr>
              <a:t>Ideal: Passive, long-term investors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1480" y="4389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A4A3A"/>
                </a:solidFill>
              </a:rPr>
              <a:t>Eg: UTI Nifty 50 Index Fund, HDFC Sensex Fund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54680" y="3108960"/>
            <a:ext cx="2697480" cy="1600200"/>
          </a:xfrm>
          <a:prstGeom prst="rect">
            <a:avLst/>
          </a:prstGeom>
          <a:solidFill>
            <a:srgbClr val="FDEDEC"/>
          </a:solidFill>
          <a:ln w="12700">
            <a:solidFill>
              <a:srgbClr val="9431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54680" y="3108960"/>
            <a:ext cx="2697480" cy="347472"/>
          </a:xfrm>
          <a:prstGeom prst="rect">
            <a:avLst/>
          </a:prstGeom>
          <a:solidFill>
            <a:srgbClr val="943126"/>
          </a:solidFill>
          <a:ln w="12700">
            <a:solidFill>
              <a:srgbClr val="9431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27832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ELSS Funds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3163824"/>
            <a:ext cx="713232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3163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Risk: High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46120" y="35112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C2B1C"/>
                </a:solidFill>
              </a:rPr>
              <a:t>Equity Linked Saving Scheme. Save up to ₹1.5L tax under 80C.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39136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3126"/>
                </a:solidFill>
              </a:rPr>
              <a:t>Ret: 12–15% p.a.*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46120" y="41148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B6B"/>
                </a:solidFill>
              </a:rPr>
              <a:t>Ideal: Tax saving u/s 80C + wealth creation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246120" y="4389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A4A3A"/>
                </a:solidFill>
              </a:rPr>
              <a:t>Eg: Mirae Asset Tax Saver, Axis Long Term Equity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989320" y="3108960"/>
            <a:ext cx="2697480" cy="1600200"/>
          </a:xfrm>
          <a:prstGeom prst="rect">
            <a:avLst/>
          </a:prstGeom>
          <a:solidFill>
            <a:srgbClr val="D1F2EB"/>
          </a:solidFill>
          <a:ln w="12700">
            <a:solidFill>
              <a:srgbClr val="0E66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989320" y="3108960"/>
            <a:ext cx="269748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Liquid Funds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09560" y="3163824"/>
            <a:ext cx="713232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3163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Risk: Very Low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080760" y="35112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C2B1C"/>
                </a:solidFill>
              </a:rPr>
              <a:t>Invests in very short-term instruments. Better than savings a/c.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80760" y="39136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6655"/>
                </a:solidFill>
              </a:rPr>
              <a:t>Ret: 4–6% p.a.*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80760" y="41148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B7B6B"/>
                </a:solidFill>
              </a:rPr>
              <a:t>Ideal: Emergency corpus / parking surplus cash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080760" y="4389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A4A3A"/>
                </a:solidFill>
              </a:rPr>
              <a:t>Eg: Nippon India Liquid Fund, Aditya Birla Liquid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B6B"/>
                </a:solidFill>
              </a:rPr>
              <a:t>*Past returns are not indicative of future performance. Mutual Fund investments are subject to market risks.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FFFFF"/>
                </a:solidFill>
              </a:rPr>
              <a:t>POWER</a:t>
            </a:r>
            <a:r>
              <a:rPr lang="en-US" sz="1100" b="1" kern="0" spc="200" dirty="0">
                <a:solidFill>
                  <a:srgbClr val="FFFFFF"/>
                </a:solidFill>
              </a:rPr>
              <a:t> </a:t>
            </a:r>
            <a:r>
              <a:rPr lang="en-US" b="1" kern="0" spc="200" dirty="0">
                <a:solidFill>
                  <a:srgbClr val="FFFFFF"/>
                </a:solidFill>
              </a:rPr>
              <a:t>OF</a:t>
            </a:r>
            <a:r>
              <a:rPr lang="en-US" sz="1100" b="1" kern="0" spc="200" dirty="0">
                <a:solidFill>
                  <a:srgbClr val="FFFFFF"/>
                </a:solidFill>
              </a:rPr>
              <a:t> </a:t>
            </a:r>
            <a:r>
              <a:rPr lang="en-US" b="1" kern="0" spc="200" dirty="0">
                <a:solidFill>
                  <a:srgbClr val="FFFFFF"/>
                </a:solidFill>
              </a:rPr>
              <a:t>SIP &amp; COMPOUNDING</a:t>
            </a:r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A7A"/>
                </a:solidFill>
              </a:rPr>
              <a:t>Slide </a:t>
            </a:r>
            <a:r>
              <a:rPr lang="en-US" sz="900" dirty="0" smtClean="0">
                <a:solidFill>
                  <a:srgbClr val="7AAA7A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Early. Stay Consistent. Let Time Work.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64008" cy="1280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What is SIP?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A3A"/>
                </a:solidFill>
              </a:rPr>
              <a:t>Systematic Investment Plan (SIP) lets you invest a fixed amount every month — as low as ₹500. Like a Recurring Deposit, but in mutual funds with potentially higher returns.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3931920" cy="2011680"/>
          </a:xfrm>
          <a:prstGeom prst="rect">
            <a:avLst/>
          </a:prstGeom>
          <a:solidFill>
            <a:srgbClr val="4A9B6F">
              <a:alpha val="12000"/>
            </a:srgbClr>
          </a:solidFill>
          <a:ln w="12700">
            <a:solidFill>
              <a:srgbClr val="4A9B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529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</a:rPr>
              <a:t>Key Benefits of SIP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3A"/>
                </a:solidFill>
              </a:rPr>
              <a:t>✔  Rupee Cost Averaging — buy more units when market is down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3A"/>
                </a:solidFill>
              </a:rPr>
              <a:t>✔  No need to time the market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9593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3A"/>
                </a:solidFill>
              </a:rPr>
              <a:t>✔  Builds financial discipline automatically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352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3A"/>
                </a:solidFill>
              </a:rPr>
              <a:t>✔  Can be started/stopped/paused anytime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4206240" cy="38404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3716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SIP of ₹5,000/month @ 12% p.a. — The Magic of Compounding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755648"/>
            <a:ext cx="1005840" cy="384048"/>
          </a:xfrm>
          <a:prstGeom prst="rect">
            <a:avLst/>
          </a:prstGeom>
          <a:solidFill>
            <a:srgbClr val="1A473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5564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Duration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755648"/>
            <a:ext cx="1097280" cy="384048"/>
          </a:xfrm>
          <a:prstGeom prst="rect">
            <a:avLst/>
          </a:prstGeom>
          <a:solidFill>
            <a:srgbClr val="1A473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75564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Amount Invested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75120" y="1755648"/>
            <a:ext cx="1234440" cy="384048"/>
          </a:xfrm>
          <a:prstGeom prst="rect">
            <a:avLst/>
          </a:prstGeom>
          <a:solidFill>
            <a:srgbClr val="1A473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755648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Estimated Value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909560" y="1755648"/>
            <a:ext cx="914400" cy="384048"/>
          </a:xfrm>
          <a:prstGeom prst="rect">
            <a:avLst/>
          </a:prstGeom>
          <a:solidFill>
            <a:srgbClr val="1A473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17556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213969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13969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1C"/>
                </a:solidFill>
              </a:rPr>
              <a:t>5 Years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2139696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213969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₹3,00,000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213969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139696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₹4,12,431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09560" y="213969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139696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1A"/>
                </a:solidFill>
              </a:rPr>
              <a:t>₹1,12,431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523744"/>
            <a:ext cx="100584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52374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1C"/>
                </a:solidFill>
              </a:rPr>
              <a:t>10 Years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2523744"/>
            <a:ext cx="109728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25237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₹6,00,000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2523744"/>
            <a:ext cx="123444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2523744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₹11,61,695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09560" y="2523744"/>
            <a:ext cx="91440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2523744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1A"/>
                </a:solidFill>
              </a:rPr>
              <a:t>₹5,61,695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290779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29077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1C"/>
                </a:solidFill>
              </a:rPr>
              <a:t>15 Years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77840" y="2907792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290779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₹9,00,000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75120" y="290779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2907792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₹25,22,879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09560" y="290779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2907792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1A"/>
                </a:solidFill>
              </a:rPr>
              <a:t>₹16,22,879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0" y="3291840"/>
            <a:ext cx="100584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29184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1C"/>
                </a:solidFill>
              </a:rPr>
              <a:t>20 Years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77840" y="3291840"/>
            <a:ext cx="109728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329184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₹12,00,000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675120" y="3291840"/>
            <a:ext cx="123444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329184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₹49,95,740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909560" y="3291840"/>
            <a:ext cx="914400" cy="384048"/>
          </a:xfrm>
          <a:prstGeom prst="rect">
            <a:avLst/>
          </a:prstGeom>
          <a:solidFill>
            <a:srgbClr val="F0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329184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1A"/>
                </a:solidFill>
              </a:rPr>
              <a:t>₹37,95,740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367588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367588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1C"/>
                </a:solidFill>
              </a:rPr>
              <a:t>25 Years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77840" y="367588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23560" y="367588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₹15,00,000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675120" y="3675888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3675888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1C"/>
                </a:solidFill>
              </a:rPr>
              <a:t>₹94,88,186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09560" y="367588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55280" y="367588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1A"/>
                </a:solidFill>
              </a:rPr>
              <a:t>₹79,88,186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B6B"/>
                </a:solidFill>
              </a:rPr>
              <a:t>*Estimates based on 12% annual returns. Actual returns may vary. Past performance is not a guarantee.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FFFFF"/>
                </a:solidFill>
              </a:rPr>
              <a:t>GOAL-BASED</a:t>
            </a:r>
            <a:r>
              <a:rPr lang="en-US" sz="1100" b="1" kern="0" spc="200" dirty="0">
                <a:solidFill>
                  <a:srgbClr val="FFFFFF"/>
                </a:solidFill>
              </a:rPr>
              <a:t> </a:t>
            </a:r>
            <a:r>
              <a:rPr lang="en-US" b="1" kern="0" spc="200" dirty="0">
                <a:solidFill>
                  <a:srgbClr val="FFFFFF"/>
                </a:solidFill>
              </a:rPr>
              <a:t>INVESTING</a:t>
            </a:r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A7A"/>
                </a:solidFill>
              </a:rPr>
              <a:t>Slide </a:t>
            </a:r>
            <a:r>
              <a:rPr lang="en-US" sz="900" dirty="0" smtClean="0">
                <a:solidFill>
                  <a:srgbClr val="7AAA7A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Dream Has a Fund — Let's Match Yours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160020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71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🏠  Buy a Home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73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</a:rPr>
              <a:t>⏱ Horizon: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1773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7–10 Years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066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</a:rPr>
              <a:t>💰 Target: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2066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₹50–80 Lakh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359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</a:rPr>
              <a:t>📈 SIP Needed: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2359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₹15,000–25,000/mo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</a:rPr>
              <a:t>🏦 Fund Type: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8016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Aggressive Hybrid / Large Cap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54680" y="1371600"/>
            <a:ext cx="2697480" cy="16002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371600"/>
            <a:ext cx="269748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371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🎓  Child's Education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773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</a:rPr>
              <a:t>⏱ Horizon: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0" y="1773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10–15 Years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120" y="2066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</a:rPr>
              <a:t>💰 Target: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2066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₹30–50 Lakh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46120" y="2359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</a:rPr>
              <a:t>📈 SIP Needed: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0" y="2359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₹7,000–12,000/mo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4612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</a:rPr>
              <a:t>🏦 Fund Type: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Flexi Cap / Mid Cap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1371600"/>
            <a:ext cx="2697480" cy="1600200"/>
          </a:xfrm>
          <a:prstGeom prst="rect">
            <a:avLst/>
          </a:prstGeom>
          <a:solidFill>
            <a:srgbClr val="EBD5F8"/>
          </a:solidFill>
          <a:ln w="12700">
            <a:solidFill>
              <a:srgbClr val="7644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1371600"/>
            <a:ext cx="2697480" cy="347472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1371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💍  Child's Wedding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1773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6448A"/>
                </a:solidFill>
              </a:rPr>
              <a:t>⏱ Horizon: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1773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15–20 Years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2066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6448A"/>
                </a:solidFill>
              </a:rPr>
              <a:t>💰 Target: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49440" y="2066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₹20–40 Lakh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80760" y="2359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6448A"/>
                </a:solidFill>
              </a:rPr>
              <a:t>📈 SIP Needed: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49440" y="2359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₹4,000–8,000/mo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8076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6448A"/>
                </a:solidFill>
              </a:rPr>
              <a:t>🏦 Fund Type: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4944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Multi Cap / Balanced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108960"/>
            <a:ext cx="2697480" cy="1600200"/>
          </a:xfrm>
          <a:prstGeom prst="rect">
            <a:avLst/>
          </a:prstGeom>
          <a:solidFill>
            <a:srgbClr val="FDEDEC"/>
          </a:solidFill>
          <a:ln w="12700">
            <a:solidFill>
              <a:srgbClr val="9431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108960"/>
            <a:ext cx="2697480" cy="347472"/>
          </a:xfrm>
          <a:prstGeom prst="rect">
            <a:avLst/>
          </a:prstGeom>
          <a:solidFill>
            <a:srgbClr val="943126"/>
          </a:solidFill>
          <a:ln w="12700">
            <a:solidFill>
              <a:srgbClr val="9431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108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🌴  Retirement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3511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3126"/>
                </a:solidFill>
              </a:rPr>
              <a:t>⏱ Horizon: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280160" y="35112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20–30 Years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1480" y="3803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3126"/>
                </a:solidFill>
              </a:rPr>
              <a:t>💰 Target: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280160" y="3803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₹1–2 Crore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" y="4096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3126"/>
                </a:solidFill>
              </a:rPr>
              <a:t>📈 SIP Needed: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280160" y="4096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₹10,000–20,000/mo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1148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3126"/>
                </a:solidFill>
              </a:rPr>
              <a:t>🏦 Fund Type: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8016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Index Fund + ELSS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54680" y="3108960"/>
            <a:ext cx="2697480" cy="1600200"/>
          </a:xfrm>
          <a:prstGeom prst="rect">
            <a:avLst/>
          </a:prstGeom>
          <a:solidFill>
            <a:srgbClr val="D1F2EB"/>
          </a:solidFill>
          <a:ln w="12700">
            <a:solidFill>
              <a:srgbClr val="0E66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54680" y="3108960"/>
            <a:ext cx="269748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27832" y="3108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✈️  Vacation / Travel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46120" y="3511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6655"/>
                </a:solidFill>
              </a:rPr>
              <a:t>⏱ Horizon: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114800" y="35112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1–3 Years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46120" y="3803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6655"/>
                </a:solidFill>
              </a:rPr>
              <a:t>💰 Target: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14800" y="3803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₹2–5 Lakh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46120" y="4096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6655"/>
                </a:solidFill>
              </a:rPr>
              <a:t>📈 SIP Needed: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114800" y="4096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₹5,000–10,000/mo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4612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6655"/>
                </a:solidFill>
              </a:rPr>
              <a:t>🏦 Fund Type: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1148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Debt / Liquid Funds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9320" y="3108960"/>
            <a:ext cx="2697480" cy="1600200"/>
          </a:xfrm>
          <a:prstGeom prst="rect">
            <a:avLst/>
          </a:prstGeom>
          <a:solidFill>
            <a:srgbClr val="FEF9E7"/>
          </a:solidFill>
          <a:ln w="12700">
            <a:solidFill>
              <a:srgbClr val="7D66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989320" y="3108960"/>
            <a:ext cx="2697480" cy="34747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62472" y="3108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🛡️  Emergency Fund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80760" y="3511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D6608"/>
                </a:solidFill>
              </a:rPr>
              <a:t>⏱ Horizon: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49440" y="35112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Ongoing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080760" y="3803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D6608"/>
                </a:solidFill>
              </a:rPr>
              <a:t>💰 Target: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949440" y="3803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6 Months Expenses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080760" y="4096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D6608"/>
                </a:solidFill>
              </a:rPr>
              <a:t>📈 SIP Needed: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949440" y="4096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₹2,000–5,000/mo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8076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D6608"/>
                </a:solidFill>
              </a:rPr>
              <a:t>🏦 Fund Type: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94944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1C"/>
                </a:solidFill>
              </a:rPr>
              <a:t>Liquid / Ultra-Short Debt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B6B"/>
                </a:solidFill>
              </a:rPr>
              <a:t>Amounts are approximate and for illustration only. Please consult your distributor for personalised planning. Mutual Fund investments are subject to market risks.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8F9F6"/>
          </a:solidFill>
          <a:ln w="12700">
            <a:solidFill>
              <a:srgbClr val="F8F9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C6B45">
              <a:alpha val="25000"/>
            </a:srgbClr>
          </a:solidFill>
          <a:ln w="12700">
            <a:solidFill>
              <a:srgbClr val="2C6B4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-457200"/>
            <a:ext cx="1828800" cy="1828800"/>
          </a:xfrm>
          <a:prstGeom prst="ellipse">
            <a:avLst/>
          </a:prstGeom>
          <a:solidFill>
            <a:srgbClr val="4A9B6F">
              <a:alpha val="20000"/>
            </a:srgbClr>
          </a:solidFill>
          <a:ln w="12700">
            <a:solidFill>
              <a:srgbClr val="4A9B6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C842"/>
                </a:solidFill>
              </a:rPr>
              <a:t>WHY INVEST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US?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✅  AMFI Certified — ARN 353508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📊  MBA-Finance + NISM VA &amp; XV qualified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5973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🤝  Personalised goal-based investment plans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3522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📱  100% paperless, digital onboarding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107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🔔  Regular portfolio review &amp; rebalancing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🇮🇳  Serving clients across India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4114800" cy="502920"/>
          </a:xfrm>
          <a:prstGeom prst="rect">
            <a:avLst/>
          </a:prstGeom>
          <a:solidFill>
            <a:srgbClr val="2C6B45">
              <a:alpha val="7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4622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842"/>
                </a:solidFill>
              </a:rPr>
              <a:t>"Plan Today, Prosper Tomorrow"  — Kunal Gupta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 Today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212080" y="914400"/>
            <a:ext cx="3383280" cy="36576"/>
          </a:xfrm>
          <a:prstGeom prst="rect">
            <a:avLst/>
          </a:prstGeom>
          <a:solidFill>
            <a:srgbClr val="4A9B6F"/>
          </a:solidFill>
          <a:ln w="12700">
            <a:solidFill>
              <a:srgbClr val="4A9B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051560"/>
            <a:ext cx="1828800" cy="1828800"/>
          </a:xfrm>
          <a:prstGeom prst="ellipse">
            <a:avLst/>
          </a:prstGeom>
          <a:solidFill>
            <a:srgbClr val="1A4731"/>
          </a:solidFill>
          <a:ln w="38100">
            <a:solidFill>
              <a:srgbClr val="4A9B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0515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937760" y="29992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Kunal Gupta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364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6B"/>
                </a:solidFill>
              </a:rPr>
              <a:t>AMFI Registered Mutual Fund Distributor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3767328"/>
            <a:ext cx="3749040" cy="292608"/>
          </a:xfrm>
          <a:prstGeom prst="rect">
            <a:avLst/>
          </a:prstGeom>
          <a:solidFill>
            <a:srgbClr val="4A9B6F">
              <a:alpha val="20000"/>
            </a:srgbClr>
          </a:solidFill>
          <a:ln w="6350">
            <a:solidFill>
              <a:srgbClr val="4A9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7673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731"/>
                </a:solidFill>
              </a:rPr>
              <a:t>📞  8434463048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4105656"/>
            <a:ext cx="3749040" cy="292608"/>
          </a:xfrm>
          <a:prstGeom prst="rect">
            <a:avLst/>
          </a:prstGeom>
          <a:solidFill>
            <a:srgbClr val="4A9B6F">
              <a:alpha val="20000"/>
            </a:srgbClr>
          </a:solidFill>
          <a:ln w="6350">
            <a:solidFill>
              <a:srgbClr val="4A9B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41056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731"/>
                </a:solidFill>
              </a:rPr>
              <a:t>✉️  Kunalkr.gupta5@gmail.com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4443984"/>
            <a:ext cx="3749040" cy="292608"/>
          </a:xfrm>
          <a:prstGeom prst="rect">
            <a:avLst/>
          </a:prstGeom>
          <a:solidFill>
            <a:srgbClr val="4A9B6F">
              <a:alpha val="20000"/>
            </a:srgbClr>
          </a:solidFill>
          <a:ln w="6350">
            <a:solidFill>
              <a:srgbClr val="4A9B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4439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731"/>
                </a:solidFill>
              </a:rPr>
              <a:t>🪪  ARN – 353508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9A7A"/>
                </a:solidFill>
              </a:rPr>
              <a:t>Mutual Fund investments are subject to market risks. Read all scheme related documents carefully before investing.</a:t>
            </a:r>
            <a:endParaRPr lang="en-US" sz="7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123" y="1060704"/>
            <a:ext cx="1779753" cy="18288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957</Words>
  <Application>Microsoft Office PowerPoint</Application>
  <PresentationFormat>On-screen Show (16:9)</PresentationFormat>
  <Paragraphs>183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Baskerville Old Face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Investment Guide - Kunal Gupta</dc:title>
  <dc:subject>PptxGenJS Presentation</dc:subject>
  <dc:creator>PptxGenJS</dc:creator>
  <cp:lastModifiedBy>KUNAL GUPTA</cp:lastModifiedBy>
  <cp:revision>18</cp:revision>
  <dcterms:created xsi:type="dcterms:W3CDTF">2026-03-06T12:06:15Z</dcterms:created>
  <dcterms:modified xsi:type="dcterms:W3CDTF">2026-03-06T14:06:58Z</dcterms:modified>
</cp:coreProperties>
</file>